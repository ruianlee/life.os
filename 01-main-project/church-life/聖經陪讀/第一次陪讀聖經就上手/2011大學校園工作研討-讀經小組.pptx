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71" r:id="rId2"/>
    <p:sldId id="272" r:id="rId3"/>
    <p:sldId id="323" r:id="rId4"/>
    <p:sldId id="329" r:id="rId5"/>
    <p:sldId id="340" r:id="rId6"/>
    <p:sldId id="330" r:id="rId7"/>
    <p:sldId id="331" r:id="rId8"/>
    <p:sldId id="332" r:id="rId9"/>
    <p:sldId id="335" r:id="rId10"/>
    <p:sldId id="336" r:id="rId11"/>
    <p:sldId id="348" r:id="rId12"/>
    <p:sldId id="349" r:id="rId13"/>
    <p:sldId id="350" r:id="rId14"/>
    <p:sldId id="351" r:id="rId15"/>
    <p:sldId id="341" r:id="rId16"/>
    <p:sldId id="333" r:id="rId17"/>
    <p:sldId id="319" r:id="rId18"/>
    <p:sldId id="325" r:id="rId19"/>
    <p:sldId id="324" r:id="rId20"/>
    <p:sldId id="326" r:id="rId21"/>
    <p:sldId id="344" r:id="rId22"/>
    <p:sldId id="338" r:id="rId23"/>
    <p:sldId id="345" r:id="rId24"/>
    <p:sldId id="346" r:id="rId25"/>
  </p:sldIdLst>
  <p:sldSz cx="9144000" cy="6858000" type="screen4x3"/>
  <p:notesSz cx="9921875" cy="67913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big5"/>
  <p:clrMru>
    <a:srgbClr val="FFFF99"/>
    <a:srgbClr val="CCCCFF"/>
    <a:srgbClr val="FFFF00"/>
    <a:srgbClr val="CC3300"/>
    <a:srgbClr val="FF3300"/>
    <a:srgbClr val="FF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4727" autoAdjust="0"/>
  </p:normalViewPr>
  <p:slideViewPr>
    <p:cSldViewPr>
      <p:cViewPr>
        <p:scale>
          <a:sx n="40" d="100"/>
          <a:sy n="40" d="100"/>
        </p:scale>
        <p:origin x="-1047" y="-4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1975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6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0013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6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19750" y="6450013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EB866A3E-B5C6-4807-89CD-DE488F0901A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1975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3900" y="509588"/>
            <a:ext cx="3395663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37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5800"/>
            <a:ext cx="7937500" cy="305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037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0013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37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19750" y="6450013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5E33D617-5441-4C7B-BCF5-2262DA2D4B8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CB1E8-928D-4AE0-AA33-C0CC9717994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147CE-E6C9-4C14-B089-CF8EFB9D41A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C2CA9-0985-4B8B-8705-BB58B5F766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F5171-5092-431E-B479-17401E58A3C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C6CA6-D7CD-4E26-8498-58ED0DE369E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03979A-63ED-4F28-A3A7-AD804F41804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FE4246-5891-4724-9B4E-13B1389C9C1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B8A7C-2075-4A77-9121-77A8811D01E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1B95C4-D65D-4D0B-A8F1-F164E6BA95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64029-E382-4F4D-898A-F81B97DEF7D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24EE1-CCE9-41B7-8755-3DE78A93F5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charset="-120"/>
              </a:defRPr>
            </a:lvl1pPr>
          </a:lstStyle>
          <a:p>
            <a:pPr>
              <a:defRPr/>
            </a:pPr>
            <a:fld id="{300CC3D8-3C90-44C8-B8B7-14111F8F6F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1079500" y="0"/>
            <a:ext cx="80645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endParaRPr lang="zh-TW" altLang="zh-TW" sz="44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2052" name="Text Box 5"/>
          <p:cNvSpPr txBox="1">
            <a:spLocks noChangeArrowheads="1"/>
          </p:cNvSpPr>
          <p:nvPr/>
        </p:nvSpPr>
        <p:spPr bwMode="auto">
          <a:xfrm>
            <a:off x="898525" y="648282"/>
            <a:ext cx="745968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5400" b="1" dirty="0" smtClean="0">
                <a:solidFill>
                  <a:srgbClr val="FFFF99"/>
                </a:solidFill>
                <a:latin typeface="微軟正黑體" pitchFamily="34" charset="-120"/>
                <a:ea typeface="微軟正黑體" pitchFamily="34" charset="-120"/>
              </a:rPr>
              <a:t>2011</a:t>
            </a:r>
            <a:r>
              <a:rPr lang="zh-TW" altLang="en-US" sz="5400" b="1" smtClean="0">
                <a:solidFill>
                  <a:srgbClr val="FFFF99"/>
                </a:solidFill>
                <a:latin typeface="微軟正黑體" pitchFamily="34" charset="-120"/>
                <a:ea typeface="微軟正黑體" pitchFamily="34" charset="-120"/>
              </a:rPr>
              <a:t>校園工作研討</a:t>
            </a:r>
            <a:endParaRPr lang="zh-TW" altLang="en-US" sz="5400" b="1" dirty="0">
              <a:solidFill>
                <a:srgbClr val="FFFF99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8628" y="2857496"/>
            <a:ext cx="835821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6000" dirty="0" smtClean="0">
                <a:solidFill>
                  <a:srgbClr val="FFFF99"/>
                </a:solidFill>
                <a:latin typeface="微軟正黑體" pitchFamily="34" charset="-120"/>
                <a:ea typeface="微軟正黑體" pitchFamily="34" charset="-120"/>
              </a:rPr>
              <a:t>在大學校園中以活力排為基礎實行讀經小組</a:t>
            </a:r>
            <a:endParaRPr lang="zh-TW" altLang="en-US" sz="6000" b="1" dirty="0">
              <a:solidFill>
                <a:srgbClr val="FFFF99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079500" y="0"/>
            <a:ext cx="80645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endParaRPr lang="zh-TW" altLang="zh-TW" sz="44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3643306" y="142852"/>
            <a:ext cx="141577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4800" b="1" dirty="0" smtClean="0">
                <a:solidFill>
                  <a:srgbClr val="FFFF99"/>
                </a:solidFill>
                <a:ea typeface="標楷體" pitchFamily="65" charset="-120"/>
              </a:rPr>
              <a:t>目的</a:t>
            </a:r>
            <a:endParaRPr lang="zh-TW" altLang="en-US" sz="4800" b="1" dirty="0">
              <a:solidFill>
                <a:srgbClr val="FFFF99"/>
              </a:solidFill>
              <a:ea typeface="標楷體" pitchFamily="65" charset="-120"/>
            </a:endParaRPr>
          </a:p>
        </p:txBody>
      </p:sp>
      <p:sp>
        <p:nvSpPr>
          <p:cNvPr id="40961" name="Rectangle 1"/>
          <p:cNvSpPr>
            <a:spLocks noChangeArrowheads="1"/>
          </p:cNvSpPr>
          <p:nvPr/>
        </p:nvSpPr>
        <p:spPr bwMode="auto">
          <a:xfrm>
            <a:off x="857224" y="2071678"/>
            <a:ext cx="7429552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實行活力排，結常存的果子；藉著讀經小組帶進校園</a:t>
            </a:r>
            <a:r>
              <a:rPr kumimoji="1" lang="zh-TW" alt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裏</a:t>
            </a:r>
            <a:r>
              <a:rPr kumimoji="1" 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的繁殖與擴增。</a:t>
            </a:r>
            <a:endParaRPr kumimoji="1" lang="zh-TW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187450" y="0"/>
            <a:ext cx="795655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endParaRPr lang="zh-TW" altLang="zh-TW" sz="44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357290" y="188913"/>
            <a:ext cx="658706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4200" b="1" dirty="0" smtClean="0">
                <a:solidFill>
                  <a:srgbClr val="FFFF99"/>
                </a:solidFill>
                <a:ea typeface="標楷體" pitchFamily="65" charset="-120"/>
              </a:rPr>
              <a:t>實行方式 </a:t>
            </a:r>
            <a:r>
              <a:rPr lang="en-US" altLang="zh-TW" sz="4200" b="1" dirty="0" smtClean="0">
                <a:solidFill>
                  <a:srgbClr val="FFFF99"/>
                </a:solidFill>
                <a:ea typeface="標楷體" pitchFamily="65" charset="-120"/>
              </a:rPr>
              <a:t>- </a:t>
            </a:r>
            <a:r>
              <a:rPr lang="zh-TW" altLang="en-US" sz="4200" b="1" dirty="0" smtClean="0">
                <a:solidFill>
                  <a:srgbClr val="FFFF99"/>
                </a:solidFill>
                <a:ea typeface="標楷體" pitchFamily="65" charset="-120"/>
              </a:rPr>
              <a:t>以活力排為基礎</a:t>
            </a:r>
            <a:endParaRPr lang="zh-TW" altLang="en-US" sz="4200" b="1" dirty="0">
              <a:solidFill>
                <a:srgbClr val="FFFF99"/>
              </a:solidFill>
              <a:ea typeface="標楷體" pitchFamily="65" charset="-120"/>
            </a:endParaRPr>
          </a:p>
        </p:txBody>
      </p:sp>
      <p:sp>
        <p:nvSpPr>
          <p:cNvPr id="4123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39937" name="Rectangle 1"/>
          <p:cNvSpPr>
            <a:spLocks noChangeArrowheads="1"/>
          </p:cNvSpPr>
          <p:nvPr/>
        </p:nvSpPr>
        <p:spPr bwMode="auto">
          <a:xfrm>
            <a:off x="642910" y="1643050"/>
            <a:ext cx="778674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  </a:t>
            </a:r>
            <a:r>
              <a:rPr kumimoji="1" 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由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2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～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4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位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核心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的聖徒開始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2  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每週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2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～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3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次活力排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禱告交通</a:t>
            </a:r>
            <a:endParaRPr kumimoji="1" lang="zh-TW" altLang="en-US" sz="4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3  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尋找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對象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來源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4  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列出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名單</a:t>
            </a:r>
            <a:endParaRPr kumimoji="1" lang="zh-TW" altLang="en-US" sz="4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5  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提名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代禱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與談人事奉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6  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週週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提醒邀約</a:t>
            </a:r>
            <a:endParaRPr kumimoji="1" lang="zh-TW" altLang="en-US" sz="4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7  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配搭服事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讀經小組</a:t>
            </a:r>
            <a:endParaRPr kumimoji="1" lang="zh-TW" altLang="en-US" sz="4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900931" y="188913"/>
            <a:ext cx="53142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FFFF99"/>
                </a:solidFill>
                <a:ea typeface="標楷體" pitchFamily="65" charset="-120"/>
              </a:rPr>
              <a:t>尋找讀經小組的新對象</a:t>
            </a:r>
            <a:endParaRPr lang="zh-TW" altLang="en-US" sz="4000" b="1" dirty="0">
              <a:solidFill>
                <a:srgbClr val="FFFF99"/>
              </a:solidFill>
              <a:ea typeface="標楷體" pitchFamily="65" charset="-120"/>
            </a:endParaRPr>
          </a:p>
        </p:txBody>
      </p:sp>
      <p:sp>
        <p:nvSpPr>
          <p:cNvPr id="4123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1785918" y="1857364"/>
            <a:ext cx="600076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原則：</a:t>
            </a:r>
            <a:endParaRPr kumimoji="1" lang="en-US" altLang="zh-TW" sz="5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5000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en-US" altLang="zh-TW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 </a:t>
            </a:r>
            <a:r>
              <a:rPr kumimoji="1" lang="zh-TW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要禱告</a:t>
            </a:r>
            <a:endParaRPr kumimoji="1" lang="en-US" altLang="zh-TW" sz="5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en-US" altLang="zh-TW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 </a:t>
            </a:r>
            <a:r>
              <a:rPr kumimoji="1" lang="zh-TW" sz="5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有鑑別力</a:t>
            </a:r>
            <a:endParaRPr kumimoji="1" lang="zh-TW" sz="5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2857488" y="0"/>
            <a:ext cx="392909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4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新對象來源</a:t>
            </a:r>
            <a:endParaRPr lang="zh-TW" altLang="en-US" sz="44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500034" y="1142984"/>
            <a:ext cx="7929618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81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藉著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大量問卷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尋找新對象：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（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）新生入學體檢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（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2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）新生入學跑班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（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3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）宿舍逐間叩門</a:t>
            </a:r>
            <a:endParaRPr kumimoji="1" lang="en-US" altLang="zh-TW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藉著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傳福音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尋找新對象：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（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）馬路或網路福音接觸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（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2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）參加過福音聚會者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藉著重新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查看名單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尋找新對象：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藉著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邀約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同學尋找新對象：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2786050" y="0"/>
            <a:ext cx="500066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4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回訪並邀約</a:t>
            </a:r>
            <a:endParaRPr lang="zh-TW" altLang="en-US" sz="44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214314" y="1142984"/>
            <a:ext cx="8715404" cy="5586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問卷或傳福音後的重要銜接步驟</a:t>
            </a:r>
            <a:endParaRPr kumimoji="1" lang="en-US" altLang="zh-TW" sz="4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TW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  </a:t>
            </a:r>
            <a:r>
              <a:rPr kumimoji="1" 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參加福音聚會者，會後</a:t>
            </a:r>
            <a:r>
              <a:rPr kumimoji="1" lang="zh-TW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直接約定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   </a:t>
            </a:r>
            <a:endParaRPr kumimoji="1" lang="zh-TW" altLang="en-US" sz="4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2  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電話或簡訊或電郵，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間接接觸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。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lvl="0" indent="228600" algn="just" eaLnBrk="0" hangingPunct="0"/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3</a:t>
            </a:r>
            <a:r>
              <a:rPr kumimoji="1" lang="en-US" altLang="zh-TW" sz="4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 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帶著讀經小組簡介邀請或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精美讀經小組邀請卡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，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當面約定</a:t>
            </a:r>
            <a:endParaRPr lang="en-US" altLang="zh-TW" sz="4000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lvl="0" indent="228600" algn="just" eaLnBrk="0" hangingPunct="0"/>
            <a:endParaRPr kumimoji="1" lang="en-US" altLang="zh-TW" sz="4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lvl="0" algn="just" eaLnBrk="0" hangingPunct="0"/>
            <a:r>
              <a:rPr kumimoji="1" lang="zh-TW" altLang="en-US" sz="35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標楷體" pitchFamily="65" charset="-120"/>
                <a:ea typeface="標楷體" pitchFamily="65" charset="-120"/>
              </a:rPr>
              <a:t>最令人傷心的是許多閒置於會所角落的問卷</a:t>
            </a: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  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2428860" y="0"/>
            <a:ext cx="4857784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4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讀經小組的時段</a:t>
            </a:r>
            <a:endParaRPr lang="zh-TW" altLang="en-US" sz="44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285720" y="1643050"/>
            <a:ext cx="8501122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81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午休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時間，一般校園為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～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1.5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小時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1" lang="en-US" altLang="zh-TW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傍晚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下課後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1" lang="en-US" altLang="zh-TW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晚上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，晚餐後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2357422" y="0"/>
            <a:ext cx="5429288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4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時間長度與配當</a:t>
            </a:r>
            <a:endParaRPr lang="zh-TW" altLang="en-US" sz="44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4817" name="Rectangle 1"/>
          <p:cNvSpPr>
            <a:spLocks noChangeArrowheads="1"/>
          </p:cNvSpPr>
          <p:nvPr/>
        </p:nvSpPr>
        <p:spPr bwMode="auto">
          <a:xfrm>
            <a:off x="214282" y="1428736"/>
            <a:ext cx="9215502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81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時間長度：</a:t>
            </a:r>
            <a:endParaRPr kumimoji="1" lang="en-US" altLang="zh-TW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381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約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30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～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60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分鐘為宜（不含用餐）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TW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時間配當：（以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30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分為例）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詩歌（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15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％，約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5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分）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經文與註解（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35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％，約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10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分）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講說，問答與分享（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40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％，約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12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分）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81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禱告與顧惜（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10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％，約</a:t>
            </a:r>
            <a:r>
              <a:rPr kumimoji="1" lang="en-US" alt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3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分）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3357554" y="0"/>
            <a:ext cx="250033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8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地點</a:t>
            </a:r>
            <a:endParaRPr lang="zh-TW" altLang="en-US" sz="48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428596" y="1500174"/>
            <a:ext cx="814393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社團辦公室</a:t>
            </a:r>
            <a:endParaRPr kumimoji="1" lang="zh-TW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教師研究社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lvl="0" indent="304800" eaLnBrk="0" hangingPunct="0">
              <a:buFont typeface="Arial" pitchFamily="34" charset="0"/>
              <a:buChar char="•"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校園內的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教室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（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雖然方便，但日後邀約召會生活較困難。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）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校園附近的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會所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或學生中心。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lvl="0" indent="304800" algn="just" eaLnBrk="0" hangingPunct="0">
              <a:buFont typeface="Arial" pitchFamily="34" charset="0"/>
              <a:buChar char="•"/>
            </a:pP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校園附近的</a:t>
            </a:r>
            <a:r>
              <a:rPr kumimoji="1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家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（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對於小羊日後調入召會生活較有幫助</a:t>
            </a:r>
            <a:r>
              <a:rPr kumimoji="1" lang="zh-TW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）</a:t>
            </a:r>
            <a:endParaRPr kumimoji="1" lang="zh-TW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3714744" y="0"/>
            <a:ext cx="2428892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4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方式</a:t>
            </a:r>
            <a:endParaRPr lang="zh-TW" altLang="en-US" sz="44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7158" y="1500174"/>
            <a:ext cx="842965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小組（共</a:t>
            </a:r>
            <a:r>
              <a:rPr lang="en-US" sz="4000" dirty="0" smtClean="0"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～</a:t>
            </a:r>
            <a:r>
              <a:rPr lang="en-US" sz="4000" dirty="0" smtClean="0"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人，陪讀）</a:t>
            </a:r>
          </a:p>
          <a:p>
            <a:pPr algn="just"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小排（共</a:t>
            </a:r>
            <a:r>
              <a:rPr lang="en-US" sz="4000" dirty="0" smtClean="0">
                <a:latin typeface="微軟正黑體" pitchFamily="34" charset="-120"/>
                <a:ea typeface="微軟正黑體" pitchFamily="34" charset="-120"/>
              </a:rPr>
              <a:t>6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～</a:t>
            </a:r>
            <a:r>
              <a:rPr lang="en-US" sz="4000" dirty="0" smtClean="0">
                <a:latin typeface="微軟正黑體" pitchFamily="34" charset="-120"/>
                <a:ea typeface="微軟正黑體" pitchFamily="34" charset="-120"/>
              </a:rPr>
              <a:t>10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人）</a:t>
            </a:r>
          </a:p>
          <a:p>
            <a:pPr algn="just"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先合後分（所有讀經小組同時段，同場地，先一起用餐或唱詩，之後再分小組）</a:t>
            </a:r>
          </a:p>
          <a:p>
            <a:pPr algn="just"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結合愛筵（用餐後或用餐前）</a:t>
            </a:r>
          </a:p>
          <a:p>
            <a:pPr algn="just"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與用餐同時進行（中午時段通常如此，個人自備午餐）</a:t>
            </a:r>
            <a:endParaRPr lang="zh-TW" altLang="en-US" sz="4000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428596" y="-24"/>
            <a:ext cx="8286808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8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以中壢召會實行讀經小組為例</a:t>
            </a:r>
            <a:endParaRPr lang="zh-TW" altLang="en-US" sz="48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2844" y="1357298"/>
          <a:ext cx="8786840" cy="4714908"/>
        </p:xfrm>
        <a:graphic>
          <a:graphicData uri="http://schemas.openxmlformats.org/drawingml/2006/table">
            <a:tbl>
              <a:tblPr/>
              <a:tblGrid>
                <a:gridCol w="785818"/>
                <a:gridCol w="1071570"/>
                <a:gridCol w="2928958"/>
                <a:gridCol w="1143008"/>
                <a:gridCol w="1643072"/>
                <a:gridCol w="1214414"/>
              </a:tblGrid>
              <a:tr h="19615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校園數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活力組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核心人數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600" b="1" kern="10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讀經小組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600" b="1" kern="10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每週受照顧者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每週主日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33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kern="10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6</a:t>
                      </a:r>
                      <a:endParaRPr lang="zh-TW" sz="3600" b="1" kern="10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24</a:t>
                      </a:r>
                      <a:r>
                        <a:rPr lang="zh-TW" alt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  <a:endParaRPr lang="zh-TW" sz="3600" b="1" kern="100" dirty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約</a:t>
                      </a:r>
                      <a:r>
                        <a:rPr 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50</a:t>
                      </a:r>
                      <a:r>
                        <a:rPr lang="zh-TW" alt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人</a:t>
                      </a:r>
                      <a:endParaRPr lang="en-US" altLang="zh-TW" sz="3600" b="1" kern="100" dirty="0" smtClean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學生</a:t>
                      </a:r>
                      <a:r>
                        <a:rPr lang="zh-TW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約</a:t>
                      </a:r>
                      <a:r>
                        <a:rPr 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35</a:t>
                      </a:r>
                      <a:endParaRPr lang="en-US" altLang="zh-TW" sz="3600" b="1" kern="100" dirty="0" smtClean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配搭</a:t>
                      </a:r>
                      <a:r>
                        <a:rPr lang="zh-TW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聖徒約</a:t>
                      </a:r>
                      <a:r>
                        <a:rPr lang="en-US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15</a:t>
                      </a:r>
                      <a:endParaRPr lang="zh-TW" sz="3600" b="1" kern="100" dirty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15</a:t>
                      </a:r>
                      <a:r>
                        <a:rPr lang="zh-TW" alt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  <a:endParaRPr lang="zh-TW" sz="3600" b="1" kern="100" dirty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約</a:t>
                      </a:r>
                      <a:r>
                        <a:rPr 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80</a:t>
                      </a:r>
                      <a:r>
                        <a:rPr lang="zh-TW" alt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人</a:t>
                      </a:r>
                      <a:endParaRPr lang="en-US" altLang="zh-TW" sz="3600" b="1" kern="100" dirty="0" smtClean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  <a:p>
                      <a:pPr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32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新蒙恩與福音朋友約各半</a:t>
                      </a:r>
                      <a:endParaRPr lang="zh-TW" sz="3200" b="1" kern="100" dirty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600" b="1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約</a:t>
                      </a:r>
                      <a:r>
                        <a:rPr lang="en-US" sz="3600" b="1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10</a:t>
                      </a:r>
                      <a:endParaRPr lang="zh-TW" sz="3600" b="1" kern="100" dirty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2357422" y="-24"/>
            <a:ext cx="5072098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8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讀經小組地點</a:t>
            </a:r>
            <a:endParaRPr lang="zh-TW" altLang="en-US" sz="48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000100" y="1928802"/>
          <a:ext cx="6858048" cy="2682240"/>
        </p:xfrm>
        <a:graphic>
          <a:graphicData uri="http://schemas.openxmlformats.org/drawingml/2006/table">
            <a:tbl>
              <a:tblPr/>
              <a:tblGrid>
                <a:gridCol w="4715663"/>
                <a:gridCol w="2142385"/>
              </a:tblGrid>
              <a:tr h="6272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學校教室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4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2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教師研究室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1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2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學生</a:t>
                      </a:r>
                      <a:r>
                        <a:rPr lang="zh-TW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中心</a:t>
                      </a:r>
                      <a:r>
                        <a:rPr lang="zh-TW" alt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（會所）</a:t>
                      </a:r>
                      <a:endParaRPr lang="zh-TW" sz="4400" kern="100" dirty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9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2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家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1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357290" y="-24"/>
            <a:ext cx="6715172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8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讀經小組核心成員分析</a:t>
            </a:r>
            <a:endParaRPr lang="zh-TW" altLang="en-US" sz="48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42910" y="1714488"/>
          <a:ext cx="8001056" cy="4023360"/>
        </p:xfrm>
        <a:graphic>
          <a:graphicData uri="http://schemas.openxmlformats.org/drawingml/2006/table">
            <a:tbl>
              <a:tblPr/>
              <a:tblGrid>
                <a:gridCol w="5501608"/>
                <a:gridCol w="2499448"/>
              </a:tblGrid>
              <a:tr h="5081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學生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9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1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全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時間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1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1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全時間與聖徒配搭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1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1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聖徒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2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1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學生與聖徒配搭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1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1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教</a:t>
                      </a:r>
                      <a:r>
                        <a:rPr lang="zh-TW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職</a:t>
                      </a:r>
                      <a:r>
                        <a:rPr lang="zh-TW" alt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與</a:t>
                      </a:r>
                      <a:r>
                        <a:rPr lang="zh-TW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聖徒</a:t>
                      </a:r>
                      <a:r>
                        <a:rPr lang="zh-TW" alt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配搭</a:t>
                      </a:r>
                      <a:endParaRPr lang="zh-TW" sz="4400" kern="100" dirty="0">
                        <a:latin typeface="標楷體" pitchFamily="65" charset="-120"/>
                        <a:ea typeface="標楷體" pitchFamily="65" charset="-12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1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643042" y="-24"/>
            <a:ext cx="6715172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8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讀經小組時段分析</a:t>
            </a:r>
            <a:endParaRPr lang="zh-TW" altLang="en-US" sz="48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14348" y="1714488"/>
          <a:ext cx="7215238" cy="2846088"/>
        </p:xfrm>
        <a:graphic>
          <a:graphicData uri="http://schemas.openxmlformats.org/drawingml/2006/table">
            <a:tbl>
              <a:tblPr/>
              <a:tblGrid>
                <a:gridCol w="4666542"/>
                <a:gridCol w="2548696"/>
              </a:tblGrid>
              <a:tr h="9486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中午休息時間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11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86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傍晚下課後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 3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86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4400" kern="10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晚餐愛筵後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4400" kern="100" dirty="0" smtClean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  1</a:t>
                      </a:r>
                      <a:r>
                        <a:rPr lang="zh-TW" sz="4400" kern="100" dirty="0">
                          <a:latin typeface="標楷體" pitchFamily="65" charset="-120"/>
                          <a:ea typeface="標楷體" pitchFamily="65" charset="-120"/>
                          <a:cs typeface="Times New Roman"/>
                        </a:rPr>
                        <a:t>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93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3786182" y="0"/>
            <a:ext cx="214314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r>
              <a:rPr lang="zh-TW" altLang="en-US" sz="44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材料</a:t>
            </a:r>
            <a:endParaRPr lang="zh-TW" altLang="en-US" sz="44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160" name="Rectangle 3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714348" y="1500174"/>
            <a:ext cx="7929618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組成的元素：</a:t>
            </a:r>
            <a:endParaRPr kumimoji="1" lang="en-US" altLang="zh-TW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4400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詩歌</a:t>
            </a:r>
            <a:endParaRPr lang="en-US" altLang="zh-TW" sz="4400" dirty="0" smtClean="0"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經文段落</a:t>
            </a:r>
            <a:endParaRPr kumimoji="1" lang="en-US" altLang="zh-TW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真理亮光</a:t>
            </a:r>
            <a:endParaRPr kumimoji="1" lang="en-US" altLang="zh-TW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生命供應</a:t>
            </a:r>
            <a:endParaRPr kumimoji="1" lang="en-US" altLang="zh-TW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1" 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禱告</a:t>
            </a:r>
            <a:endParaRPr kumimoji="1" lang="zh-TW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187450" y="0"/>
            <a:ext cx="795655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endParaRPr lang="zh-TW" altLang="zh-TW" sz="44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842388" y="188913"/>
            <a:ext cx="48013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FFFF99"/>
                </a:solidFill>
                <a:ea typeface="標楷體" pitchFamily="65" charset="-120"/>
              </a:rPr>
              <a:t>可供參考的材料資源</a:t>
            </a:r>
            <a:endParaRPr lang="zh-TW" altLang="en-US" sz="4000" b="1" dirty="0">
              <a:solidFill>
                <a:srgbClr val="FFFF99"/>
              </a:solidFill>
              <a:ea typeface="標楷體" pitchFamily="65" charset="-120"/>
            </a:endParaRPr>
          </a:p>
        </p:txBody>
      </p:sp>
      <p:sp>
        <p:nvSpPr>
          <p:cNvPr id="4123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7" name="矩形 6"/>
          <p:cNvSpPr/>
          <p:nvPr/>
        </p:nvSpPr>
        <p:spPr>
          <a:xfrm>
            <a:off x="214314" y="1321435"/>
            <a:ext cx="950122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讀經指引（台灣福音書房）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讀經書室網站（學者福音） </a:t>
            </a:r>
            <a:r>
              <a:rPr lang="en-US" sz="2800" dirty="0" smtClean="0"/>
              <a:t>http://www.2tim315.org/bibleguide/</a:t>
            </a:r>
            <a:endParaRPr lang="zh-TW" altLang="en-US" sz="28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第一次陪讀聖經就上手（中壢市召會）</a:t>
            </a:r>
            <a:r>
              <a:rPr lang="en-US" sz="2800" dirty="0" smtClean="0"/>
              <a:t>https://sites.google.com/site/easytoreadbible/rsg01-1</a:t>
            </a:r>
            <a:endParaRPr lang="zh-TW" altLang="en-US" sz="28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讀經小組導讀（中壢市召會）</a:t>
            </a:r>
            <a:r>
              <a:rPr lang="en-US" sz="2800" dirty="0" smtClean="0"/>
              <a:t>https://sites.google.com/site/easytoreadbible/rsg02</a:t>
            </a:r>
            <a:endParaRPr lang="zh-TW" altLang="en-US" sz="28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讀經小組示範（台中市召會）</a:t>
            </a:r>
            <a:r>
              <a:rPr lang="en-US" sz="2800" u="sng" dirty="0" smtClean="0"/>
              <a:t>http://recoverytch.wordpress.com/category/</a:t>
            </a:r>
            <a:r>
              <a:rPr lang="en-US" sz="2800" u="sng" dirty="0" err="1" smtClean="0"/>
              <a:t>讀經小組</a:t>
            </a:r>
            <a:r>
              <a:rPr lang="en-US" sz="2800" u="sng" dirty="0" smtClean="0"/>
              <a:t>/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187450" y="0"/>
            <a:ext cx="795655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endParaRPr lang="zh-TW" altLang="zh-TW" sz="44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395217" y="188913"/>
            <a:ext cx="639149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4400" b="1" dirty="0" smtClean="0">
                <a:solidFill>
                  <a:srgbClr val="FFFF99"/>
                </a:solidFill>
                <a:ea typeface="標楷體" pitchFamily="65" charset="-120"/>
              </a:rPr>
              <a:t>為小羊規劃階段性的帶領</a:t>
            </a:r>
            <a:endParaRPr lang="zh-TW" altLang="en-US" sz="4400" b="1" dirty="0">
              <a:solidFill>
                <a:srgbClr val="FFFF99"/>
              </a:solidFill>
              <a:ea typeface="標楷體" pitchFamily="65" charset="-120"/>
            </a:endParaRPr>
          </a:p>
        </p:txBody>
      </p:sp>
      <p:sp>
        <p:nvSpPr>
          <p:cNvPr id="4123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8" name="矩形 7"/>
          <p:cNvSpPr/>
          <p:nvPr/>
        </p:nvSpPr>
        <p:spPr>
          <a:xfrm>
            <a:off x="500034" y="1428736"/>
            <a:ext cx="835824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學會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開口禱告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學會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禱讀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談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受浸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邀約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福音聚會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邀約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召會聚會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或相調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新人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成全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或知性之旅</a:t>
            </a:r>
          </a:p>
          <a:p>
            <a:pPr>
              <a:buFont typeface="Arial" pitchFamily="34" charset="0"/>
              <a:buChar char="•"/>
            </a:pPr>
            <a:r>
              <a:rPr lang="en-US" sz="40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建立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晨興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生活</a:t>
            </a:r>
          </a:p>
          <a:p>
            <a:pPr>
              <a:buFont typeface="Arial" pitchFamily="34" charset="0"/>
              <a:buChar char="•"/>
            </a:pPr>
            <a:r>
              <a:rPr lang="en-US" sz="40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正常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召會生活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或入住弟兄姊妹之家</a:t>
            </a:r>
            <a:endParaRPr lang="zh-TW" altLang="en-US" sz="4000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187450" y="0"/>
            <a:ext cx="795655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endParaRPr lang="zh-TW" altLang="zh-TW" sz="44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-71470" y="188913"/>
            <a:ext cx="921277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4400" b="1" dirty="0" smtClean="0">
                <a:solidFill>
                  <a:srgbClr val="FFFF99"/>
                </a:solidFill>
                <a:ea typeface="標楷體" pitchFamily="65" charset="-120"/>
              </a:rPr>
              <a:t>在校園中製造對聖經產生興趣的風氣</a:t>
            </a:r>
            <a:endParaRPr lang="zh-TW" altLang="en-US" sz="4400" b="1" dirty="0">
              <a:solidFill>
                <a:srgbClr val="FFFF99"/>
              </a:solidFill>
              <a:ea typeface="標楷體" pitchFamily="65" charset="-120"/>
            </a:endParaRPr>
          </a:p>
        </p:txBody>
      </p:sp>
      <p:sp>
        <p:nvSpPr>
          <p:cNvPr id="4123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7" name="矩形 6"/>
          <p:cNvSpPr/>
          <p:nvPr/>
        </p:nvSpPr>
        <p:spPr>
          <a:xfrm>
            <a:off x="428596" y="1142984"/>
            <a:ext cx="828680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上傳讀經小組簡介影片至學生能看見的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網路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平台</a:t>
            </a:r>
          </a:p>
          <a:p>
            <a:pPr algn="just">
              <a:buFont typeface="Arial" pitchFamily="34" charset="0"/>
              <a:buChar char="•"/>
            </a:pPr>
            <a:endParaRPr lang="zh-TW" altLang="en-US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建立相關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社團網頁</a:t>
            </a:r>
          </a:p>
          <a:p>
            <a:pPr algn="just">
              <a:buFont typeface="Arial" pitchFamily="34" charset="0"/>
              <a:buChar char="•"/>
            </a:pPr>
            <a:endParaRPr lang="zh-TW" altLang="en-US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在媒體或校園</a:t>
            </a:r>
            <a:r>
              <a:rPr lang="en-US" altLang="zh-TW" sz="4000" dirty="0" smtClean="0">
                <a:latin typeface="微軟正黑體" pitchFamily="34" charset="-120"/>
                <a:ea typeface="微軟正黑體" pitchFamily="34" charset="-120"/>
              </a:rPr>
              <a:t>BBS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或學校刊物投稿，並轉發聖經觀點文章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影響輿論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>
              <a:buFont typeface="Arial" pitchFamily="34" charset="0"/>
              <a:buChar char="•"/>
            </a:pP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教職聖徒開設聖經相關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通識課程</a:t>
            </a:r>
            <a:endParaRPr lang="zh-TW" altLang="en-US" sz="4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187450" y="0"/>
            <a:ext cx="795655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endParaRPr lang="zh-TW" altLang="zh-TW" sz="44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809351" y="188913"/>
            <a:ext cx="526297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4400" b="1" dirty="0" smtClean="0">
                <a:solidFill>
                  <a:srgbClr val="FFFF99"/>
                </a:solidFill>
                <a:ea typeface="標楷體" pitchFamily="65" charset="-120"/>
              </a:rPr>
              <a:t>其他幾件重要的原則</a:t>
            </a:r>
            <a:endParaRPr lang="zh-TW" altLang="en-US" sz="4400" b="1" dirty="0">
              <a:solidFill>
                <a:srgbClr val="FFFF99"/>
              </a:solidFill>
              <a:ea typeface="標楷體" pitchFamily="65" charset="-120"/>
            </a:endParaRPr>
          </a:p>
        </p:txBody>
      </p:sp>
      <p:sp>
        <p:nvSpPr>
          <p:cNvPr id="4123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7" name="矩形 6"/>
          <p:cNvSpPr/>
          <p:nvPr/>
        </p:nvSpPr>
        <p:spPr>
          <a:xfrm>
            <a:off x="642910" y="1428736"/>
            <a:ext cx="8072494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4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天天禱告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週週題醒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提早到達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時間緊湊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生活相調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建立習慣</a:t>
            </a:r>
          </a:p>
          <a:p>
            <a:pPr>
              <a:buFont typeface="Arial" pitchFamily="34" charset="0"/>
              <a:buChar char="•"/>
            </a:pPr>
            <a:r>
              <a:rPr lang="zh-TW" altLang="en-US" sz="4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沒壓力，有收穫，才能堅定持續</a:t>
            </a:r>
            <a:endParaRPr lang="zh-TW" altLang="en-US" sz="42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187450" y="0"/>
            <a:ext cx="795655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endParaRPr lang="zh-TW" altLang="zh-TW" sz="44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3857620" y="188913"/>
            <a:ext cx="131318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4400" b="1" dirty="0" smtClean="0">
                <a:solidFill>
                  <a:srgbClr val="FFFF99"/>
                </a:solidFill>
                <a:ea typeface="標楷體" pitchFamily="65" charset="-120"/>
              </a:rPr>
              <a:t>討論</a:t>
            </a:r>
            <a:endParaRPr lang="zh-TW" altLang="en-US" sz="4400" b="1" dirty="0">
              <a:solidFill>
                <a:srgbClr val="FFFF99"/>
              </a:solidFill>
              <a:ea typeface="標楷體" pitchFamily="65" charset="-120"/>
            </a:endParaRPr>
          </a:p>
        </p:txBody>
      </p:sp>
      <p:sp>
        <p:nvSpPr>
          <p:cNvPr id="4123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8" name="矩形 7"/>
          <p:cNvSpPr/>
          <p:nvPr/>
        </p:nvSpPr>
        <p:spPr>
          <a:xfrm>
            <a:off x="357158" y="1423650"/>
            <a:ext cx="8429684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一 如何鼓勵並成全更多弟兄姊妹成為讀經小組中的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活力排核心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成員？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二 如何產生更多福音朋友或新人成為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新的對象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來源？</a:t>
            </a:r>
            <a:endParaRPr lang="en-US" altLang="zh-TW" sz="40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三 問卷後的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回訪邀約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有何技巧與邀約材料？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四 讀經小組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材料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的使用與研發？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187450" y="0"/>
            <a:ext cx="795655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endParaRPr lang="zh-TW" altLang="zh-TW" sz="44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3857620" y="188913"/>
            <a:ext cx="131318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4400" b="1" dirty="0" smtClean="0">
                <a:solidFill>
                  <a:srgbClr val="FFFF99"/>
                </a:solidFill>
                <a:ea typeface="標楷體" pitchFamily="65" charset="-120"/>
              </a:rPr>
              <a:t>討論</a:t>
            </a:r>
            <a:endParaRPr lang="zh-TW" altLang="en-US" sz="4400" b="1" dirty="0">
              <a:solidFill>
                <a:srgbClr val="FFFF99"/>
              </a:solidFill>
              <a:ea typeface="標楷體" pitchFamily="65" charset="-120"/>
            </a:endParaRPr>
          </a:p>
        </p:txBody>
      </p:sp>
      <p:sp>
        <p:nvSpPr>
          <p:cNvPr id="4123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zh-TW" altLang="zh-TW"/>
          </a:p>
        </p:txBody>
      </p:sp>
      <p:sp>
        <p:nvSpPr>
          <p:cNvPr id="8" name="矩形 7"/>
          <p:cNvSpPr/>
          <p:nvPr/>
        </p:nvSpPr>
        <p:spPr>
          <a:xfrm>
            <a:off x="285720" y="1214422"/>
            <a:ext cx="8286808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五 讀經小組最佳的時段與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時間配當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為何？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六 如何使福音朋友或新人願意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堅定持續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參加讀經小組？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七 如何在校園中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激發讀聖經的風氣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？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八 如何將人從讀經小組</a:t>
            </a:r>
            <a:r>
              <a:rPr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帶至召會生活，成為常存的果子</a:t>
            </a:r>
            <a:r>
              <a:rPr lang="zh-TW" altLang="en-US" sz="4000" dirty="0" smtClean="0">
                <a:latin typeface="微軟正黑體" pitchFamily="34" charset="-120"/>
                <a:ea typeface="微軟正黑體" pitchFamily="34" charset="-120"/>
              </a:rPr>
              <a:t>？</a:t>
            </a:r>
            <a:endParaRPr lang="zh-TW" altLang="en-US" sz="4000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079500" y="0"/>
            <a:ext cx="80645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zh-TW" altLang="en-US" sz="48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結論</a:t>
            </a:r>
            <a:endParaRPr lang="en-US" altLang="zh-TW" sz="48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2844" y="1225689"/>
            <a:ext cx="885828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一 </a:t>
            </a:r>
            <a:r>
              <a:rPr lang="zh-TW" altLang="en-US" sz="38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活力排</a:t>
            </a: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：以活力排為基礎的讀經小組，才能穩定並繁增。</a:t>
            </a:r>
          </a:p>
          <a:p>
            <a:pPr algn="just"/>
            <a:endParaRPr lang="en-US" altLang="zh-TW" sz="38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/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二 </a:t>
            </a:r>
            <a:r>
              <a:rPr lang="zh-TW" altLang="en-US" sz="38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新對象</a:t>
            </a: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：尋找新的對象需要禱告並有鑑別力，找到穩定的對象就成功了一半。</a:t>
            </a:r>
          </a:p>
          <a:p>
            <a:endParaRPr lang="en-US" altLang="zh-TW" sz="38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/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三 </a:t>
            </a:r>
            <a:r>
              <a:rPr lang="zh-TW" altLang="en-US" sz="38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回訪</a:t>
            </a: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：得到敞開的問卷需盡快回訪，回訪時輔以讀經小組的介紹或邀請，以免成為無效問卷。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079500" y="0"/>
            <a:ext cx="80645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zh-TW" altLang="en-US" sz="48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結論</a:t>
            </a:r>
            <a:endParaRPr lang="en-US" altLang="zh-TW" sz="48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4282" y="1214422"/>
            <a:ext cx="8715404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四 </a:t>
            </a:r>
            <a:r>
              <a:rPr lang="zh-TW" altLang="en-US" sz="38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時間</a:t>
            </a: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：時間以</a:t>
            </a:r>
            <a:r>
              <a:rPr lang="en-US" sz="3800" dirty="0" smtClean="0">
                <a:latin typeface="微軟正黑體" pitchFamily="34" charset="-120"/>
                <a:ea typeface="微軟正黑體" pitchFamily="34" charset="-120"/>
              </a:rPr>
              <a:t>30</a:t>
            </a: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～</a:t>
            </a:r>
            <a:r>
              <a:rPr lang="en-US" sz="3800" dirty="0" smtClean="0">
                <a:latin typeface="微軟正黑體" pitchFamily="34" charset="-120"/>
                <a:ea typeface="微軟正黑體" pitchFamily="34" charset="-120"/>
              </a:rPr>
              <a:t>45</a:t>
            </a: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分鐘為宜，不要太長（超過一小時），以免有壓力。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altLang="zh-TW" sz="38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五 </a:t>
            </a:r>
            <a:r>
              <a:rPr lang="zh-TW" altLang="en-US" sz="38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材料</a:t>
            </a: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：份量不要多，要有確定的真理亮光與生命供應，保證每次都使人有確定的收穫。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altLang="zh-TW" sz="3800" dirty="0" smtClean="0">
              <a:latin typeface="微軟正黑體" pitchFamily="34" charset="-120"/>
              <a:ea typeface="微軟正黑體" pitchFamily="34" charset="-12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六 </a:t>
            </a:r>
            <a:r>
              <a:rPr lang="zh-TW" altLang="en-US" sz="38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禱告</a:t>
            </a:r>
            <a:r>
              <a:rPr lang="zh-TW" altLang="en-US" sz="3800" dirty="0" smtClean="0">
                <a:latin typeface="微軟正黑體" pitchFamily="34" charset="-120"/>
                <a:ea typeface="微軟正黑體" pitchFamily="34" charset="-120"/>
              </a:rPr>
              <a:t>：每次結束需要幫助人開口禱告。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079500" y="0"/>
            <a:ext cx="80645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en-US" altLang="zh-TW" sz="3600">
                <a:solidFill>
                  <a:srgbClr val="FFFF99"/>
                </a:solidFill>
                <a:ea typeface="華康粗圓體" pitchFamily="49" charset="-120"/>
              </a:rPr>
              <a:t>   </a:t>
            </a:r>
            <a:endParaRPr lang="en-US" altLang="zh-TW" sz="4000">
              <a:solidFill>
                <a:srgbClr val="FFFF99"/>
              </a:solidFill>
              <a:ea typeface="華康粗圓體" pitchFamily="49" charset="-120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tIns="10800" anchor="ctr"/>
          <a:lstStyle/>
          <a:p>
            <a:pPr algn="ctr"/>
            <a:r>
              <a:rPr lang="zh-TW" altLang="en-US" sz="4800" b="1" dirty="0" smtClean="0">
                <a:solidFill>
                  <a:srgbClr val="FFFF99"/>
                </a:solidFill>
                <a:latin typeface="標楷體" pitchFamily="65" charset="-120"/>
                <a:ea typeface="標楷體" pitchFamily="65" charset="-120"/>
              </a:rPr>
              <a:t>結論</a:t>
            </a:r>
            <a:endParaRPr lang="en-US" altLang="zh-TW" sz="4800" b="1" dirty="0">
              <a:solidFill>
                <a:srgbClr val="FFFF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4282" y="1225689"/>
            <a:ext cx="8786842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七 </a:t>
            </a:r>
            <a:r>
              <a:rPr lang="zh-TW" altLang="en-US" sz="3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地點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：校園內雖能就近學生，但日後至召會聚會較困難。若有家打開，則較容易。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八 有</a:t>
            </a:r>
            <a:r>
              <a:rPr lang="zh-TW" altLang="en-US" sz="3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進程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：個別需要有不同階段的餧養與帶領。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九 </a:t>
            </a:r>
            <a:r>
              <a:rPr lang="zh-TW" altLang="en-US" sz="3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風氣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：翻轉校園的風氣，製造出對聖經產生興趣的風氣。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十 讀經小組需要研究如何將人帶進召會生活，才能</a:t>
            </a:r>
            <a:r>
              <a:rPr lang="zh-TW" altLang="en-US" sz="3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結常存的果子</a:t>
            </a:r>
            <a:r>
              <a:rPr lang="zh-TW" altLang="en-US" sz="3600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zh-TW" altLang="en-US" sz="3600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7331</TotalTime>
  <Words>1684</Words>
  <Application>Microsoft Office PowerPoint</Application>
  <PresentationFormat>如螢幕大小 (4:3)</PresentationFormat>
  <Paragraphs>198</Paragraphs>
  <Slides>24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5" baseType="lpstr">
      <vt:lpstr>預設簡報設計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  <vt:lpstr>投影片 19</vt:lpstr>
      <vt:lpstr>投影片 20</vt:lpstr>
      <vt:lpstr>投影片 21</vt:lpstr>
      <vt:lpstr>投影片 22</vt:lpstr>
      <vt:lpstr>投影片 23</vt:lpstr>
      <vt:lpstr>投影片 24</vt:lpstr>
    </vt:vector>
  </TitlesOfParts>
  <Company>Timothy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Timothy Lee</dc:creator>
  <cp:lastModifiedBy>Timothy Lee</cp:lastModifiedBy>
  <cp:revision>740</cp:revision>
  <dcterms:created xsi:type="dcterms:W3CDTF">2006-08-08T02:57:19Z</dcterms:created>
  <dcterms:modified xsi:type="dcterms:W3CDTF">2012-07-18T00:54:41Z</dcterms:modified>
</cp:coreProperties>
</file>